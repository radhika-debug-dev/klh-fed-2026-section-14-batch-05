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9" r:id="rId2"/>
    <p:sldId id="270" r:id="rId3"/>
    <p:sldId id="268" r:id="rId4"/>
    <p:sldId id="272" r:id="rId5"/>
    <p:sldId id="258" r:id="rId6"/>
    <p:sldId id="271" r:id="rId7"/>
    <p:sldId id="273" r:id="rId8"/>
    <p:sldId id="263" r:id="rId9"/>
    <p:sldId id="264" r:id="rId10"/>
    <p:sldId id="257" r:id="rId11"/>
    <p:sldId id="266" r:id="rId12"/>
    <p:sldId id="267" r:id="rId13"/>
    <p:sldId id="27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FBAD3F-F753-4A58-B467-8B0498C78AA2}" v="429" dt="2026-08-27T07:30:53.665"/>
    <p1510:client id="{9EC55C60-C3B1-4674-9313-2656AF9E23EB}" v="233" dt="2026-08-27T15:58:38.8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054345-FEAE-9225-49DF-6EF16AF661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8100"/>
              <a:t>Digital Design and Computer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1BA34-3F43-91FA-D071-C19A6B74BA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/>
              <a:t>Course outcome 1</a:t>
            </a:r>
          </a:p>
        </p:txBody>
      </p:sp>
    </p:spTree>
    <p:extLst>
      <p:ext uri="{BB962C8B-B14F-4D97-AF65-F5344CB8AC3E}">
        <p14:creationId xmlns:p14="http://schemas.microsoft.com/office/powerpoint/2010/main" val="7004033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992729-5F69-51A9-2AAD-ACDFF30ED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1" y="1008993"/>
            <a:ext cx="9231410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TITLE</a:t>
            </a:r>
            <a:b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DIGITAL DOOR ACCESS SYSTEM USING COMBINATIONAL LOGICS</a:t>
            </a:r>
          </a:p>
        </p:txBody>
      </p:sp>
    </p:spTree>
    <p:extLst>
      <p:ext uri="{BB962C8B-B14F-4D97-AF65-F5344CB8AC3E}">
        <p14:creationId xmlns:p14="http://schemas.microsoft.com/office/powerpoint/2010/main" val="10378161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4AC5C-D179-FE5F-DFA5-3858F44A9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1052686"/>
            <a:ext cx="10117289" cy="51728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/>
              <a:t>Presented by</a:t>
            </a:r>
          </a:p>
          <a:p>
            <a:pPr marL="0" indent="0">
              <a:buNone/>
            </a:pPr>
            <a:r>
              <a:rPr lang="en-US" sz="3600"/>
              <a:t>1.Sai Hitesh – 2620030269</a:t>
            </a:r>
          </a:p>
          <a:p>
            <a:pPr marL="0" indent="0">
              <a:buNone/>
            </a:pPr>
            <a:r>
              <a:rPr lang="en-US" sz="3600"/>
              <a:t>2. Hyder – 2620030257</a:t>
            </a:r>
          </a:p>
          <a:p>
            <a:pPr marL="0" indent="0">
              <a:buNone/>
            </a:pPr>
            <a:r>
              <a:rPr lang="en-US" sz="3600"/>
              <a:t>3. Radhika – 2620030258</a:t>
            </a:r>
          </a:p>
          <a:p>
            <a:pPr marL="0" indent="0">
              <a:buNone/>
            </a:pPr>
            <a:r>
              <a:rPr lang="en-US" sz="3600"/>
              <a:t>4. Akshith - 2620030282</a:t>
            </a:r>
          </a:p>
        </p:txBody>
      </p:sp>
    </p:spTree>
    <p:extLst>
      <p:ext uri="{BB962C8B-B14F-4D97-AF65-F5344CB8AC3E}">
        <p14:creationId xmlns:p14="http://schemas.microsoft.com/office/powerpoint/2010/main" val="426231925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9E50F1-0D88-B243-CC5D-23FB2ECC9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9D5F853-AF1F-1BF6-196B-35B14118C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F50C4281-A0B1-D475-0369-78A095BF45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7FBBE3-3D6B-C302-4266-45FD35FC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553307-A349-4F71-6E55-C023D6B60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7200">
                <a:latin typeface="Aptos"/>
              </a:rPr>
              <a:t>Objectives</a:t>
            </a:r>
          </a:p>
          <a:p>
            <a:endParaRPr lang="en-US" sz="7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B2E99-DAFA-BD9D-3B3A-21B5E3FF1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449" y="1858883"/>
            <a:ext cx="9320519" cy="388447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2400">
                <a:ea typeface="+mn-lt"/>
                <a:cs typeface="+mn-lt"/>
              </a:rPr>
              <a:t>   The main objective of the </a:t>
            </a:r>
            <a:r>
              <a:rPr lang="en-US" sz="2400" b="1">
                <a:ea typeface="+mn-lt"/>
                <a:cs typeface="+mn-lt"/>
              </a:rPr>
              <a:t>Digital Door Access System Using Combinational Logic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>
                <a:ea typeface="+mn-lt"/>
                <a:cs typeface="+mn-lt"/>
              </a:rPr>
              <a:t>project is to design and simulate a secure digital door-lock system using logic gates. The system verifies a </a:t>
            </a:r>
            <a:r>
              <a:rPr lang="en-US" sz="2400" b="1">
                <a:ea typeface="+mn-lt"/>
                <a:cs typeface="+mn-lt"/>
              </a:rPr>
              <a:t>4-bit password</a:t>
            </a:r>
            <a:r>
              <a:rPr lang="en-US" sz="2400">
                <a:ea typeface="+mn-lt"/>
                <a:cs typeface="+mn-lt"/>
              </a:rPr>
              <a:t> entered by the user and allows access only when the entered password matches the predefined password.</a:t>
            </a:r>
            <a:endParaRPr lang="en-US" sz="2400" dirty="0"/>
          </a:p>
          <a:p>
            <a:pPr>
              <a:buNone/>
            </a:pPr>
            <a:r>
              <a:rPr lang="en-US" sz="2400" b="1">
                <a:ea typeface="+mn-lt"/>
                <a:cs typeface="+mn-lt"/>
              </a:rPr>
              <a:t>Specific objectives:</a:t>
            </a:r>
            <a:endParaRPr lang="en-US" sz="2400" dirty="0"/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To understand the application of </a:t>
            </a:r>
            <a:r>
              <a:rPr lang="en-US" sz="2400" b="1">
                <a:ea typeface="+mn-lt"/>
                <a:cs typeface="+mn-lt"/>
              </a:rPr>
              <a:t>combinational logic circuits</a:t>
            </a:r>
            <a:r>
              <a:rPr lang="en-US" sz="2400">
                <a:ea typeface="+mn-lt"/>
                <a:cs typeface="+mn-lt"/>
              </a:rPr>
              <a:t>. </a:t>
            </a:r>
            <a:endParaRPr lang="en-US" sz="2400" dirty="0"/>
          </a:p>
          <a:p>
            <a:pPr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To design a password verification circuit using </a:t>
            </a:r>
            <a:r>
              <a:rPr lang="en-US" sz="2400" b="1" dirty="0">
                <a:ea typeface="+mn-lt"/>
                <a:cs typeface="+mn-lt"/>
              </a:rPr>
              <a:t>AND </a:t>
            </a:r>
            <a:r>
              <a:rPr lang="en-US" sz="2400" b="1" dirty="0" err="1">
                <a:ea typeface="+mn-lt"/>
                <a:cs typeface="+mn-lt"/>
              </a:rPr>
              <a:t>and</a:t>
            </a:r>
            <a:r>
              <a:rPr lang="en-US" sz="2400" b="1" dirty="0">
                <a:ea typeface="+mn-lt"/>
                <a:cs typeface="+mn-lt"/>
              </a:rPr>
              <a:t> NOT gates</a:t>
            </a:r>
            <a:r>
              <a:rPr lang="en-US" sz="2400" dirty="0">
                <a:ea typeface="+mn-lt"/>
                <a:cs typeface="+mn-lt"/>
              </a:rPr>
              <a:t>. </a:t>
            </a:r>
            <a:endParaRPr lang="en-US" sz="2400" dirty="0"/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To provide access only for the </a:t>
            </a:r>
            <a:r>
              <a:rPr lang="en-US" sz="2400" b="1">
                <a:ea typeface="+mn-lt"/>
                <a:cs typeface="+mn-lt"/>
              </a:rPr>
              <a:t>correct password </a:t>
            </a:r>
            <a:r>
              <a:rPr lang="en-US" sz="2400">
                <a:ea typeface="+mn-lt"/>
                <a:cs typeface="+mn-lt"/>
              </a:rPr>
              <a:t>. </a:t>
            </a:r>
            <a:endParaRPr lang="en-US" sz="2400" dirty="0"/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To simulate and verify the circuit using </a:t>
            </a:r>
            <a:r>
              <a:rPr lang="en-US" sz="2400" b="1">
                <a:ea typeface="+mn-lt"/>
                <a:cs typeface="+mn-lt"/>
              </a:rPr>
              <a:t>Logisim</a:t>
            </a:r>
            <a:r>
              <a:rPr lang="en-US" sz="2400">
                <a:ea typeface="+mn-lt"/>
                <a:cs typeface="+mn-lt"/>
              </a:rPr>
              <a:t>. </a:t>
            </a:r>
            <a:endParaRPr lang="en-US" sz="2400" dirty="0"/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To demonstrate the use of digital logic in </a:t>
            </a:r>
            <a:r>
              <a:rPr lang="en-US" sz="2400" b="1">
                <a:ea typeface="+mn-lt"/>
                <a:cs typeface="+mn-lt"/>
              </a:rPr>
              <a:t>basic security systems</a:t>
            </a:r>
            <a:endParaRPr lang="en-US" sz="2400" dirty="0"/>
          </a:p>
          <a:p>
            <a:pPr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6444168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456CD-8728-7312-0331-F8A8E303A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383075"/>
          </a:xfrm>
        </p:spPr>
        <p:txBody>
          <a:bodyPr anchor="ctr">
            <a:normAutofit/>
          </a:bodyPr>
          <a:lstStyle/>
          <a:p>
            <a:r>
              <a:rPr lang="en-US">
                <a:latin typeface="Aptos Display"/>
              </a:rPr>
              <a:t>Logic Design</a:t>
            </a:r>
          </a:p>
          <a:p>
            <a:endParaRPr lang="en-US" sz="7200" dirty="0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605EA-E466-24F2-D064-3051D19B3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547" y="1053517"/>
            <a:ext cx="9320519" cy="3240185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2400" dirty="0">
                <a:ea typeface="+mn-lt"/>
                <a:cs typeface="+mn-lt"/>
              </a:rPr>
              <a:t>   </a:t>
            </a:r>
          </a:p>
          <a:p>
            <a:pPr>
              <a:buFont typeface="Arial,Sans-Serif" panose="020B0604020202020204" pitchFamily="34" charset="0"/>
              <a:buChar char="•"/>
            </a:pPr>
            <a:r>
              <a:rPr lang="en-US" sz="2400" dirty="0">
                <a:ea typeface="+mn-lt"/>
                <a:cs typeface="+mn-lt"/>
              </a:rPr>
              <a:t>The </a:t>
            </a:r>
            <a:r>
              <a:rPr lang="en-US" sz="2400" b="1" dirty="0">
                <a:ea typeface="+mn-lt"/>
                <a:cs typeface="+mn-lt"/>
              </a:rPr>
              <a:t>Digital Door Access System</a:t>
            </a:r>
            <a:r>
              <a:rPr lang="en-US" sz="2400" dirty="0">
                <a:ea typeface="+mn-lt"/>
                <a:cs typeface="+mn-lt"/>
              </a:rPr>
              <a:t> is designed using combinational </a:t>
            </a:r>
            <a:r>
              <a:rPr lang="en-US" sz="2400" dirty="0" err="1">
                <a:ea typeface="+mn-lt"/>
                <a:cs typeface="+mn-lt"/>
              </a:rPr>
              <a:t>logicgates</a:t>
            </a:r>
            <a:r>
              <a:rPr lang="en-US" sz="2400" dirty="0">
                <a:ea typeface="+mn-lt"/>
                <a:cs typeface="+mn-lt"/>
              </a:rPr>
              <a:t>. For a 4-bit password </a:t>
            </a:r>
            <a:r>
              <a:rPr lang="en-US" sz="2400" b="1" dirty="0">
                <a:ea typeface="+mn-lt"/>
                <a:cs typeface="+mn-lt"/>
              </a:rPr>
              <a:t>1011</a:t>
            </a:r>
            <a:r>
              <a:rPr lang="en-US" sz="2400" dirty="0">
                <a:ea typeface="+mn-lt"/>
                <a:cs typeface="+mn-lt"/>
              </a:rPr>
              <a:t>, the inputs are compared with </a:t>
            </a:r>
            <a:r>
              <a:rPr lang="en-US" sz="2400" dirty="0" err="1">
                <a:ea typeface="+mn-lt"/>
                <a:cs typeface="+mn-lt"/>
              </a:rPr>
              <a:t>thepredefined</a:t>
            </a:r>
            <a:r>
              <a:rPr lang="en-US" sz="2400" dirty="0">
                <a:ea typeface="+mn-lt"/>
                <a:cs typeface="+mn-lt"/>
              </a:rPr>
              <a:t> password.</a:t>
            </a:r>
          </a:p>
          <a:p>
            <a:pPr>
              <a:buFont typeface="Arial,Sans-Serif" panose="020B0604020202020204" pitchFamily="34" charset="0"/>
              <a:buChar char="•"/>
            </a:pPr>
            <a:r>
              <a:rPr lang="en-US" sz="2400">
                <a:ea typeface="+mn-lt"/>
                <a:cs typeface="+mn-lt"/>
              </a:rPr>
              <a:t>The required logic is: AB'CD</a:t>
            </a:r>
          </a:p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    Where:</a:t>
            </a:r>
          </a:p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    A = 1</a:t>
            </a:r>
            <a:r>
              <a:rPr lang="en-US" sz="2400" dirty="0">
                <a:ea typeface="+mn-lt"/>
                <a:cs typeface="+mn-lt"/>
              </a:rPr>
              <a:t> </a:t>
            </a:r>
          </a:p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    B = 0</a:t>
            </a:r>
            <a:r>
              <a:rPr lang="en-US" sz="2400" dirty="0">
                <a:ea typeface="+mn-lt"/>
                <a:cs typeface="+mn-lt"/>
              </a:rPr>
              <a:t> </a:t>
            </a:r>
          </a:p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    C = 1</a:t>
            </a:r>
            <a:r>
              <a:rPr lang="en-US" sz="2400" dirty="0">
                <a:ea typeface="+mn-lt"/>
                <a:cs typeface="+mn-lt"/>
              </a:rPr>
              <a:t> </a:t>
            </a:r>
          </a:p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    D = 1</a:t>
            </a:r>
            <a:r>
              <a:rPr lang="en-US" sz="2400" dirty="0">
                <a:ea typeface="+mn-lt"/>
                <a:cs typeface="+mn-lt"/>
              </a:rPr>
              <a:t> </a:t>
            </a:r>
          </a:p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    Access = 1</a:t>
            </a:r>
            <a:r>
              <a:rPr lang="en-US" sz="2400">
                <a:ea typeface="+mn-lt"/>
                <a:cs typeface="+mn-lt"/>
              </a:rPr>
              <a:t> → Door </a:t>
            </a:r>
            <a:r>
              <a:rPr lang="en-US" sz="2400" b="1">
                <a:ea typeface="+mn-lt"/>
                <a:cs typeface="+mn-lt"/>
              </a:rPr>
              <a:t>Open</a:t>
            </a:r>
            <a:r>
              <a:rPr lang="en-US" sz="2400" dirty="0">
                <a:ea typeface="+mn-lt"/>
                <a:cs typeface="+mn-lt"/>
              </a:rPr>
              <a:t> </a:t>
            </a:r>
          </a:p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   For any other combination, </a:t>
            </a:r>
            <a:r>
              <a:rPr lang="en-US" sz="2400" b="1">
                <a:ea typeface="+mn-lt"/>
                <a:cs typeface="+mn-lt"/>
              </a:rPr>
              <a:t>Access = 0</a:t>
            </a:r>
            <a:r>
              <a:rPr lang="en-US" sz="2400">
                <a:ea typeface="+mn-lt"/>
                <a:cs typeface="+mn-lt"/>
              </a:rPr>
              <a:t> → Door </a:t>
            </a:r>
            <a:r>
              <a:rPr lang="en-US" sz="2400" b="1">
                <a:ea typeface="+mn-lt"/>
                <a:cs typeface="+mn-lt"/>
              </a:rPr>
              <a:t>Closed</a:t>
            </a:r>
            <a:endParaRPr lang="en-US" sz="2400">
              <a:ea typeface="+mn-lt"/>
              <a:cs typeface="+mn-lt"/>
            </a:endParaRPr>
          </a:p>
          <a:p>
            <a:pPr>
              <a:buFont typeface="Arial,Sans-Serif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2400" dirty="0">
              <a:ea typeface="+mn-lt"/>
              <a:cs typeface="+mn-lt"/>
            </a:endParaRPr>
          </a:p>
          <a:p>
            <a:pPr>
              <a:buNone/>
            </a:pPr>
            <a:endParaRPr lang="en-US" sz="24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2829577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EBF88-EBBD-8F37-D7E6-D2E3BDAFD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1386285"/>
            <a:ext cx="8074815" cy="43835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3200" b="1">
                <a:ea typeface="+mn-lt"/>
                <a:cs typeface="+mn-lt"/>
              </a:rPr>
              <a:t>Logic gates used:</a:t>
            </a:r>
            <a:endParaRPr lang="en-US" sz="3200">
              <a:ea typeface="+mn-lt"/>
              <a:cs typeface="+mn-lt"/>
            </a:endParaRPr>
          </a:p>
          <a:p>
            <a:pPr>
              <a:buFont typeface="Arial"/>
            </a:pPr>
            <a:r>
              <a:rPr lang="en-US" sz="3200" b="1">
                <a:ea typeface="+mn-lt"/>
                <a:cs typeface="+mn-lt"/>
              </a:rPr>
              <a:t>NOT Gate</a:t>
            </a:r>
            <a:r>
              <a:rPr lang="en-US" sz="3200">
                <a:ea typeface="+mn-lt"/>
                <a:cs typeface="+mn-lt"/>
              </a:rPr>
              <a:t> – converts B = 0 into 1. </a:t>
            </a:r>
          </a:p>
          <a:p>
            <a:pPr>
              <a:buFont typeface="Arial"/>
            </a:pPr>
            <a:r>
              <a:rPr lang="en-US" sz="3200" b="1">
                <a:ea typeface="+mn-lt"/>
                <a:cs typeface="+mn-lt"/>
              </a:rPr>
              <a:t>AND Gate</a:t>
            </a:r>
            <a:r>
              <a:rPr lang="en-US" sz="3200">
                <a:ea typeface="+mn-lt"/>
                <a:cs typeface="+mn-lt"/>
              </a:rPr>
              <a:t> – checks whether all required inputs match the password. </a:t>
            </a:r>
          </a:p>
          <a:p>
            <a:pPr>
              <a:buFont typeface="Arial"/>
            </a:pPr>
            <a:r>
              <a:rPr lang="en-US" sz="3200" b="1">
                <a:ea typeface="+mn-lt"/>
                <a:cs typeface="+mn-lt"/>
              </a:rPr>
              <a:t>LED/Output</a:t>
            </a:r>
            <a:r>
              <a:rPr lang="en-US" sz="3200">
                <a:ea typeface="+mn-lt"/>
                <a:cs typeface="+mn-lt"/>
              </a:rPr>
              <a:t> – indicates whether access is granted. 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8519035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1A8705-C66E-B93E-5C0E-8537429AA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4D56624-D2BB-B69E-D7C5-5F07B9F38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1C61BDE5-46DB-C6FE-2599-1E491E4D46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10E27C-1AD6-8AAE-B3A3-C81AFF267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695E201-120C-5C40-8D4A-EAD8CBD675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5670593"/>
              </p:ext>
            </p:extLst>
          </p:nvPr>
        </p:nvGraphicFramePr>
        <p:xfrm>
          <a:off x="1030550" y="2846557"/>
          <a:ext cx="10515599" cy="320906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055431">
                  <a:extLst>
                    <a:ext uri="{9D8B030D-6E8A-4147-A177-3AD203B41FA5}">
                      <a16:colId xmlns:a16="http://schemas.microsoft.com/office/drawing/2014/main" val="3670381320"/>
                    </a:ext>
                  </a:extLst>
                </a:gridCol>
                <a:gridCol w="6460168">
                  <a:extLst>
                    <a:ext uri="{9D8B030D-6E8A-4147-A177-3AD203B41FA5}">
                      <a16:colId xmlns:a16="http://schemas.microsoft.com/office/drawing/2014/main" val="3245436764"/>
                    </a:ext>
                  </a:extLst>
                </a:gridCol>
              </a:tblGrid>
              <a:tr h="458438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21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Input Component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0115" marR="80115" marT="40053" marB="4005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21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Output Description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0115" marR="80115" marT="40053" marB="4005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2563658"/>
                  </a:ext>
                </a:extLst>
              </a:tr>
              <a:tr h="458438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21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A, B, C, D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0115" marR="80115" marT="40053" marB="4005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21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4-bit password inputs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0115" marR="80115" marT="40053" marB="4005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050173"/>
                  </a:ext>
                </a:extLst>
              </a:tr>
              <a:tr h="458438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21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P₀, P₁, P₂, P₃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0115" marR="80115" marT="40053" marB="4005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21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Predefined password bits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0115" marR="80115" marT="40053" marB="4005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977605"/>
                  </a:ext>
                </a:extLst>
              </a:tr>
              <a:tr h="458438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21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AND gates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0115" marR="80115" marT="40053" marB="4005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21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Check whether each bit matches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0115" marR="80115" marT="40053" marB="4005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726444"/>
                  </a:ext>
                </a:extLst>
              </a:tr>
              <a:tr h="458438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21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NOT gates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0115" marR="80115" marT="40053" marB="4005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21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Produce complement of input bits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0115" marR="80115" marT="40053" marB="4005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838525"/>
                  </a:ext>
                </a:extLst>
              </a:tr>
              <a:tr h="458438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21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Final AND gate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0115" marR="80115" marT="40053" marB="4005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21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Confirms all bits are correct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0115" marR="80115" marT="40053" marB="4005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791496"/>
                  </a:ext>
                </a:extLst>
              </a:tr>
              <a:tr h="458438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21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Unlock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0115" marR="80115" marT="40053" marB="4005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21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Door opening signal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0115" marR="80115" marT="40053" marB="4005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9102753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28CE4F48-19C2-8F8F-08D6-794C2DB5A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168" y="939996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What are the input components </a:t>
            </a:r>
            <a:r>
              <a:rPr lang="en-US" sz="4800"/>
              <a:t>and Output</a:t>
            </a:r>
            <a:r>
              <a:rPr lang="en-US" sz="4800" dirty="0"/>
              <a:t> Description?</a:t>
            </a:r>
          </a:p>
          <a:p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9341547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118331-D316-4605-9E0B-1504BEF8D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7200"/>
              <a:t>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01311-4370-6A79-F8D7-199ECE39F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318440"/>
            <a:ext cx="8074815" cy="3451424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endParaRPr lang="en-US" sz="2400" dirty="0"/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The user enters a </a:t>
            </a:r>
            <a:r>
              <a:rPr lang="en-US" sz="2400" b="1">
                <a:ea typeface="+mn-lt"/>
                <a:cs typeface="+mn-lt"/>
              </a:rPr>
              <a:t>4-bit password</a:t>
            </a:r>
            <a:r>
              <a:rPr lang="en-US" sz="2400">
                <a:ea typeface="+mn-lt"/>
                <a:cs typeface="+mn-lt"/>
              </a:rPr>
              <a:t> using switches. </a:t>
            </a:r>
            <a:endParaRPr lang="en-US" sz="2400" dirty="0"/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NOT gates generate the required complemented inputs. </a:t>
            </a:r>
            <a:endParaRPr lang="en-US" sz="2400" dirty="0"/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AND gates check whether the entered bits match the predefined password. </a:t>
            </a:r>
            <a:endParaRPr lang="en-US" sz="2400" dirty="0"/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The outputs are combined using an AND gate. </a:t>
            </a:r>
            <a:endParaRPr lang="en-US" sz="2400" dirty="0"/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If all four conditions are satisfied, </a:t>
            </a:r>
            <a:r>
              <a:rPr lang="en-US" sz="2400" b="1">
                <a:ea typeface="+mn-lt"/>
                <a:cs typeface="+mn-lt"/>
              </a:rPr>
              <a:t>Unlock = 1</a:t>
            </a:r>
            <a:r>
              <a:rPr lang="en-US" sz="2400">
                <a:ea typeface="+mn-lt"/>
                <a:cs typeface="+mn-lt"/>
              </a:rPr>
              <a:t>. </a:t>
            </a:r>
            <a:endParaRPr lang="en-US" sz="2400" dirty="0"/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Otherwise, </a:t>
            </a:r>
            <a:r>
              <a:rPr lang="en-US" sz="2400" b="1">
                <a:ea typeface="+mn-lt"/>
                <a:cs typeface="+mn-lt"/>
              </a:rPr>
              <a:t>Unlock = 0</a:t>
            </a:r>
            <a:r>
              <a:rPr lang="en-US" sz="2400">
                <a:ea typeface="+mn-lt"/>
                <a:cs typeface="+mn-lt"/>
              </a:rPr>
              <a:t>, and the door remains locked.</a:t>
            </a:r>
            <a:endParaRPr lang="en-US" sz="2400" dirty="0"/>
          </a:p>
          <a:p>
            <a:pPr marL="0" indent="0">
              <a:buNone/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13671296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657453-EB1A-0852-F578-80ACDE3CE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7200"/>
              <a:t>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9A2BE-0D3B-FB5F-7B8B-19DC8FE97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377625"/>
            <a:ext cx="8074815" cy="339223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The circuit can be simulated in </a:t>
            </a:r>
            <a:r>
              <a:rPr lang="en-US" b="1">
                <a:ea typeface="+mn-lt"/>
                <a:cs typeface="+mn-lt"/>
              </a:rPr>
              <a:t>Logisim</a:t>
            </a:r>
            <a:r>
              <a:rPr lang="en-US">
                <a:ea typeface="+mn-lt"/>
                <a:cs typeface="+mn-lt"/>
              </a:rPr>
              <a:t> using:</a:t>
            </a:r>
            <a:endParaRPr lang="en-US" dirty="0"/>
          </a:p>
          <a:p>
            <a:pPr>
              <a:buFont typeface="Arial"/>
            </a:pPr>
            <a:r>
              <a:rPr lang="en-US">
                <a:ea typeface="+mn-lt"/>
                <a:cs typeface="+mn-lt"/>
              </a:rPr>
              <a:t>4 Input Pins/Switches </a:t>
            </a:r>
            <a:endParaRPr lang="en-US" dirty="0">
              <a:ea typeface="+mn-lt"/>
              <a:cs typeface="+mn-lt"/>
            </a:endParaRPr>
          </a:p>
          <a:p>
            <a:pPr>
              <a:buFont typeface="Arial"/>
            </a:pPr>
            <a:r>
              <a:rPr lang="en-US">
                <a:ea typeface="+mn-lt"/>
                <a:cs typeface="+mn-lt"/>
              </a:rPr>
              <a:t>NOT gates </a:t>
            </a:r>
            <a:endParaRPr lang="en-US" dirty="0">
              <a:ea typeface="+mn-lt"/>
              <a:cs typeface="+mn-lt"/>
            </a:endParaRPr>
          </a:p>
          <a:p>
            <a:pPr>
              <a:buFont typeface="Arial"/>
            </a:pPr>
            <a:r>
              <a:rPr lang="en-US">
                <a:ea typeface="+mn-lt"/>
                <a:cs typeface="+mn-lt"/>
              </a:rPr>
              <a:t>AND gates </a:t>
            </a:r>
            <a:endParaRPr lang="en-US" dirty="0">
              <a:ea typeface="+mn-lt"/>
              <a:cs typeface="+mn-lt"/>
            </a:endParaRPr>
          </a:p>
          <a:p>
            <a:pPr>
              <a:buFont typeface="Arial"/>
            </a:pPr>
            <a:r>
              <a:rPr lang="en-US">
                <a:ea typeface="+mn-lt"/>
                <a:cs typeface="+mn-lt"/>
              </a:rPr>
              <a:t>LED for </a:t>
            </a:r>
            <a:r>
              <a:rPr lang="en-US" b="1">
                <a:ea typeface="+mn-lt"/>
                <a:cs typeface="+mn-lt"/>
              </a:rPr>
              <a:t>Door Unlock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pPr>
              <a:buFont typeface="Arial"/>
            </a:pPr>
            <a:r>
              <a:rPr lang="en-US">
                <a:ea typeface="+mn-lt"/>
                <a:cs typeface="+mn-lt"/>
              </a:rPr>
              <a:t>Optional LED for </a:t>
            </a:r>
            <a:r>
              <a:rPr lang="en-US" b="1">
                <a:ea typeface="+mn-lt"/>
                <a:cs typeface="+mn-lt"/>
              </a:rPr>
              <a:t>Door Locked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174486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5750BC5-645E-9931-B0A2-CACAC60EA3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729995"/>
            <a:ext cx="10905066" cy="539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1516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6F832-6DE5-9260-0AA0-511C726F2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286" y="260022"/>
            <a:ext cx="10515600" cy="1325563"/>
          </a:xfrm>
        </p:spPr>
        <p:txBody>
          <a:bodyPr/>
          <a:lstStyle/>
          <a:p>
            <a:r>
              <a:rPr lang="en-US"/>
              <a:t>Truth table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12F754E-6954-BDC6-80A7-135988465D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7779978"/>
              </p:ext>
            </p:extLst>
          </p:nvPr>
        </p:nvGraphicFramePr>
        <p:xfrm>
          <a:off x="3580711" y="522418"/>
          <a:ext cx="8384840" cy="579043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76968">
                  <a:extLst>
                    <a:ext uri="{9D8B030D-6E8A-4147-A177-3AD203B41FA5}">
                      <a16:colId xmlns:a16="http://schemas.microsoft.com/office/drawing/2014/main" val="2260006806"/>
                    </a:ext>
                  </a:extLst>
                </a:gridCol>
                <a:gridCol w="1676968">
                  <a:extLst>
                    <a:ext uri="{9D8B030D-6E8A-4147-A177-3AD203B41FA5}">
                      <a16:colId xmlns:a16="http://schemas.microsoft.com/office/drawing/2014/main" val="2600053866"/>
                    </a:ext>
                  </a:extLst>
                </a:gridCol>
                <a:gridCol w="1676968">
                  <a:extLst>
                    <a:ext uri="{9D8B030D-6E8A-4147-A177-3AD203B41FA5}">
                      <a16:colId xmlns:a16="http://schemas.microsoft.com/office/drawing/2014/main" val="456275491"/>
                    </a:ext>
                  </a:extLst>
                </a:gridCol>
                <a:gridCol w="1676968">
                  <a:extLst>
                    <a:ext uri="{9D8B030D-6E8A-4147-A177-3AD203B41FA5}">
                      <a16:colId xmlns:a16="http://schemas.microsoft.com/office/drawing/2014/main" val="1961778911"/>
                    </a:ext>
                  </a:extLst>
                </a:gridCol>
                <a:gridCol w="1676968">
                  <a:extLst>
                    <a:ext uri="{9D8B030D-6E8A-4147-A177-3AD203B41FA5}">
                      <a16:colId xmlns:a16="http://schemas.microsoft.com/office/drawing/2014/main" val="4128626107"/>
                    </a:ext>
                  </a:extLst>
                </a:gridCol>
              </a:tblGrid>
              <a:tr h="295151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B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X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227871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5238872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165257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6242266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7492807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690379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6339729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2133868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032327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5561462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3404669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8207485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917147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224156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814110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8661888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6294" marR="66294" marT="33147" marB="331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633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6689177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555442-9BF1-590F-D14D-09C675B83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5600"/>
              <a:t>Expected Result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130D0-E03C-86B5-ED9E-94A5BBC99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2400"/>
              <a:t>   The </a:t>
            </a:r>
            <a:r>
              <a:rPr lang="en-US" sz="2400" b="1"/>
              <a:t>Unlock LED glows only when the correct password (1011) is  entered.</a:t>
            </a:r>
            <a:endParaRPr lang="en-US" sz="2400"/>
          </a:p>
          <a:p>
            <a:pPr marL="0" indent="0">
              <a:buNone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499334064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5A5978-551C-6F43-1948-D3F8BA396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1" y="1008993"/>
            <a:ext cx="9231410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1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7860784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Digital Design and Computer Architecture</vt:lpstr>
      <vt:lpstr>PROJECT TITLE  DIGITAL DOOR ACCESS SYSTEM USING COMBINATIONAL LOGICS</vt:lpstr>
      <vt:lpstr>PowerPoint Presentation</vt:lpstr>
      <vt:lpstr>Objectives </vt:lpstr>
      <vt:lpstr>Logic Design </vt:lpstr>
      <vt:lpstr>PowerPoint Presentation</vt:lpstr>
      <vt:lpstr>What are the input components and Output Description? </vt:lpstr>
      <vt:lpstr>Working</vt:lpstr>
      <vt:lpstr>Simulation</vt:lpstr>
      <vt:lpstr>PowerPoint Presentation</vt:lpstr>
      <vt:lpstr>Truth table</vt:lpstr>
      <vt:lpstr>Expected Result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229</cp:revision>
  <dcterms:created xsi:type="dcterms:W3CDTF">2026-08-27T07:04:06Z</dcterms:created>
  <dcterms:modified xsi:type="dcterms:W3CDTF">2026-08-27T15:58:56Z</dcterms:modified>
</cp:coreProperties>
</file>