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68" r:id="rId4"/>
    <p:sldId id="278" r:id="rId5"/>
    <p:sldId id="277" r:id="rId6"/>
    <p:sldId id="279" r:id="rId7"/>
    <p:sldId id="284" r:id="rId8"/>
    <p:sldId id="282" r:id="rId9"/>
    <p:sldId id="283" r:id="rId10"/>
    <p:sldId id="287" r:id="rId11"/>
    <p:sldId id="286" r:id="rId12"/>
    <p:sldId id="285" r:id="rId13"/>
    <p:sldId id="281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DD3A0-4E34-7C95-DB38-1796A33F8EC7}" v="542" dt="2026-10-14T08:55:25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54345-FEAE-9225-49DF-6EF16AF66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/>
              <a:t>Digital Design and 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BA34-3F43-91FA-D071-C19A6B74B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Course outcome 2</a:t>
            </a:r>
          </a:p>
        </p:txBody>
      </p:sp>
    </p:spTree>
    <p:extLst>
      <p:ext uri="{BB962C8B-B14F-4D97-AF65-F5344CB8AC3E}">
        <p14:creationId xmlns:p14="http://schemas.microsoft.com/office/powerpoint/2010/main" val="700403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92729-5F69-51A9-2AAD-ACDFF30ED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318141" cy="3802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latin typeface="+mj-lt"/>
                <a:ea typeface="+mj-ea"/>
                <a:cs typeface="+mj-cs"/>
              </a:rPr>
              <a:t>PROJECT </a:t>
            </a:r>
            <a:r>
              <a:rPr lang="en-US" sz="4600" dirty="0"/>
              <a:t>TITLE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100" dirty="0"/>
              <a:t>Design and Simulation of a Digital Access </a:t>
            </a:r>
            <a:r>
              <a:rPr lang="en-US" sz="4100"/>
              <a:t>Card Verification System Using (2*1)Multiplexer</a:t>
            </a:r>
            <a:endParaRPr lang="en-US" sz="4600" kern="1200"/>
          </a:p>
        </p:txBody>
      </p:sp>
    </p:spTree>
    <p:extLst>
      <p:ext uri="{BB962C8B-B14F-4D97-AF65-F5344CB8AC3E}">
        <p14:creationId xmlns:p14="http://schemas.microsoft.com/office/powerpoint/2010/main" val="103781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4AC5C-D179-FE5F-DFA5-3858F44A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052686"/>
            <a:ext cx="10117289" cy="51728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/>
              <a:t>Presented by</a:t>
            </a:r>
          </a:p>
          <a:p>
            <a:pPr marL="0" indent="0">
              <a:buNone/>
            </a:pPr>
            <a:r>
              <a:rPr lang="en-US" sz="3600"/>
              <a:t>1.Sai Hitesh – 2620030269</a:t>
            </a:r>
          </a:p>
          <a:p>
            <a:pPr marL="0" indent="0">
              <a:buNone/>
            </a:pPr>
            <a:r>
              <a:rPr lang="en-US" sz="3600"/>
              <a:t>2. Hyder – 2620030257</a:t>
            </a:r>
          </a:p>
          <a:p>
            <a:pPr marL="0" indent="0">
              <a:buNone/>
            </a:pPr>
            <a:r>
              <a:rPr lang="en-US" sz="3600"/>
              <a:t>3. Radhika – 2620030258</a:t>
            </a:r>
          </a:p>
          <a:p>
            <a:pPr marL="0" indent="0">
              <a:buNone/>
            </a:pPr>
            <a:r>
              <a:rPr lang="en-US" sz="3600"/>
              <a:t>4. Akshith - 2620030282</a:t>
            </a:r>
          </a:p>
        </p:txBody>
      </p:sp>
    </p:spTree>
    <p:extLst>
      <p:ext uri="{BB962C8B-B14F-4D97-AF65-F5344CB8AC3E}">
        <p14:creationId xmlns:p14="http://schemas.microsoft.com/office/powerpoint/2010/main" val="42623192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6299B-E866-BFBF-6A46-6EE66AD6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64812D-2593-B919-7E36-8A26E0079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3901180E-4600-102F-62DD-1EA8F7F6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13F514-A0F2-A6B1-E6E0-C66A7FD6C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9AE40-2CC8-C05E-9476-059E1F0C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Introduction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B6D76-7D37-B0FA-4613-B1ED8F214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672104"/>
            <a:ext cx="8830619" cy="30977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>
                <a:ea typeface="+mn-lt"/>
                <a:cs typeface="+mn-lt"/>
              </a:rPr>
              <a:t>A </a:t>
            </a:r>
            <a:r>
              <a:rPr lang="en-US" sz="2400" b="1">
                <a:ea typeface="+mn-lt"/>
                <a:cs typeface="+mn-lt"/>
              </a:rPr>
              <a:t>Digital Access Card Verification System</a:t>
            </a:r>
            <a:r>
              <a:rPr lang="en-US" sz="2400">
                <a:ea typeface="+mn-lt"/>
                <a:cs typeface="+mn-lt"/>
              </a:rPr>
              <a:t> is a digital security system designed to control access to a protected area or system. Access is granted only when two conditions are satisfied: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The access card is </a:t>
            </a:r>
            <a:r>
              <a:rPr lang="en-US" sz="2400" b="1">
                <a:ea typeface="+mn-lt"/>
                <a:cs typeface="+mn-lt"/>
              </a:rPr>
              <a:t>valid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The entered PIN is </a:t>
            </a:r>
            <a:r>
              <a:rPr lang="en-US" sz="2400" b="1">
                <a:ea typeface="+mn-lt"/>
                <a:cs typeface="+mn-lt"/>
              </a:rPr>
              <a:t>correct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The system uses </a:t>
            </a:r>
            <a:r>
              <a:rPr lang="en-US" sz="2400" b="1">
                <a:ea typeface="+mn-lt"/>
                <a:cs typeface="+mn-lt"/>
              </a:rPr>
              <a:t>combinational logic</a:t>
            </a:r>
            <a:r>
              <a:rPr lang="en-US" sz="2400">
                <a:ea typeface="+mn-lt"/>
                <a:cs typeface="+mn-lt"/>
              </a:rPr>
              <a:t> and a </a:t>
            </a:r>
            <a:r>
              <a:rPr lang="en-US" sz="2400" b="1">
                <a:ea typeface="+mn-lt"/>
                <a:cs typeface="+mn-lt"/>
              </a:rPr>
              <a:t>2:1 Multiplexer (MUX)</a:t>
            </a:r>
            <a:r>
              <a:rPr lang="en-US" sz="2400">
                <a:ea typeface="+mn-lt"/>
                <a:cs typeface="+mn-lt"/>
              </a:rPr>
              <a:t> to implement the required access-control logic.</a:t>
            </a:r>
            <a:endParaRPr lang="en-US">
              <a:ea typeface="+mn-lt"/>
              <a:cs typeface="+mn-lt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8171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A127C-2ABF-BD88-DBF7-CCF5522F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FF115-2562-5357-08E6-9329ED25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58462-3D3E-0FFC-FBE0-2FD10D56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486250"/>
            <a:ext cx="8074815" cy="328361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2400">
                <a:ea typeface="+mn-lt"/>
                <a:cs typeface="+mn-lt"/>
              </a:rPr>
              <a:t>The objective of this project is to design a </a:t>
            </a:r>
            <a:r>
              <a:rPr lang="en-US" sz="2400" b="1">
                <a:ea typeface="+mn-lt"/>
                <a:cs typeface="+mn-lt"/>
              </a:rPr>
              <a:t>digital access card verification system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that grants access only when the card is valid and the PIN is correct.</a:t>
            </a:r>
            <a:endParaRPr lang="en-US" sz="2400" dirty="0"/>
          </a:p>
          <a:p>
            <a:endParaRPr lang="en-US" sz="2400" dirty="0"/>
          </a:p>
          <a:p>
            <a:r>
              <a:rPr lang="en-US" dirty="0"/>
              <a:t>Specific Objectives:</a:t>
            </a:r>
          </a:p>
          <a:p>
            <a:r>
              <a:rPr lang="en-US" sz="2400" b="1">
                <a:ea typeface="+mn-lt"/>
                <a:cs typeface="+mn-lt"/>
              </a:rPr>
              <a:t>Card Verification</a:t>
            </a:r>
            <a:r>
              <a:rPr lang="en-US" sz="2400">
                <a:ea typeface="+mn-lt"/>
                <a:cs typeface="+mn-lt"/>
              </a:rPr>
              <a:t> – Checks whether the access card is valid.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PIN Verification</a:t>
            </a:r>
            <a:r>
              <a:rPr lang="en-US" sz="2400">
                <a:ea typeface="+mn-lt"/>
                <a:cs typeface="+mn-lt"/>
              </a:rPr>
              <a:t> – Checks whether the entered PIN is correct.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Access Control</a:t>
            </a:r>
            <a:r>
              <a:rPr lang="en-US" sz="2400">
                <a:ea typeface="+mn-lt"/>
                <a:cs typeface="+mn-lt"/>
              </a:rPr>
              <a:t> – Grants access only when both conditions are satisfied.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Security</a:t>
            </a:r>
            <a:r>
              <a:rPr lang="en-US" sz="2400">
                <a:ea typeface="+mn-lt"/>
                <a:cs typeface="+mn-lt"/>
              </a:rPr>
              <a:t> – Prevents unauthorized access.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Digital Implementation</a:t>
            </a:r>
            <a:r>
              <a:rPr lang="en-US" sz="2400">
                <a:ea typeface="+mn-lt"/>
                <a:cs typeface="+mn-lt"/>
              </a:rPr>
              <a:t> – Demonstrates combinational logic using a </a:t>
            </a:r>
            <a:r>
              <a:rPr lang="en-US" sz="2400" b="1">
                <a:ea typeface="+mn-lt"/>
                <a:cs typeface="+mn-lt"/>
              </a:rPr>
              <a:t>2:1 multiplexer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7788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7A13E-485E-D631-C6B2-BEB3C4D8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DC73AA-B059-139F-0CB0-09CBAB5D2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3850FB47-5BCF-4BFC-0B3D-47D515ECF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1F115E-DB98-047B-7179-AF584C480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00368-FFCD-FFE7-CE7C-BA1448509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Logic Design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C1D2-5C57-A2CC-A8F3-859C4B3D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Since, The system uses </a:t>
            </a:r>
            <a:r>
              <a:rPr lang="en-US" sz="2400" b="1">
                <a:ea typeface="+mn-lt"/>
                <a:cs typeface="+mn-lt"/>
              </a:rPr>
              <a:t>two inputs and one output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sz="2400" b="1">
                <a:ea typeface="+mn-lt"/>
                <a:cs typeface="+mn-lt"/>
              </a:rPr>
              <a:t>Input A – Card Status:</a:t>
            </a:r>
            <a:endParaRPr lang="en-US"/>
          </a:p>
          <a:p>
            <a:r>
              <a:rPr lang="en-US" sz="2400">
                <a:latin typeface="Consolas"/>
                <a:ea typeface="+mn-lt"/>
                <a:cs typeface="+mn-lt"/>
              </a:rPr>
              <a:t>0 = Invalid Card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>
                <a:latin typeface="Consolas"/>
                <a:ea typeface="+mn-lt"/>
                <a:cs typeface="+mn-lt"/>
              </a:rPr>
              <a:t>1 = Valid Card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Input B – PIN Verification:</a:t>
            </a:r>
            <a:endParaRPr lang="en-US" b="1">
              <a:ea typeface="+mn-lt"/>
              <a:cs typeface="+mn-lt"/>
            </a:endParaRPr>
          </a:p>
          <a:p>
            <a:r>
              <a:rPr lang="en-US" sz="2400">
                <a:latin typeface="Consolas"/>
                <a:ea typeface="+mn-lt"/>
                <a:cs typeface="+mn-lt"/>
              </a:rPr>
              <a:t>0 = Incorrect PIN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>
                <a:latin typeface="Consolas"/>
                <a:ea typeface="+mn-lt"/>
                <a:cs typeface="+mn-lt"/>
              </a:rPr>
              <a:t>1 = Correct PIN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Output Y – Access:</a:t>
            </a:r>
            <a:endParaRPr lang="en-US"/>
          </a:p>
          <a:p>
            <a:r>
              <a:rPr lang="en-US" sz="2400">
                <a:latin typeface="Consolas"/>
                <a:ea typeface="+mn-lt"/>
                <a:cs typeface="+mn-lt"/>
              </a:rPr>
              <a:t>0 = Access Denied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>
                <a:latin typeface="Consolas"/>
                <a:ea typeface="+mn-lt"/>
                <a:cs typeface="+mn-lt"/>
              </a:rPr>
              <a:t>1 = Access Granted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The required </a:t>
            </a:r>
            <a:r>
              <a:rPr lang="en-US" sz="2400" b="1">
                <a:ea typeface="+mn-lt"/>
                <a:cs typeface="+mn-lt"/>
              </a:rPr>
              <a:t>AND logic</a:t>
            </a:r>
            <a:r>
              <a:rPr lang="en-US" sz="2400">
                <a:ea typeface="+mn-lt"/>
                <a:cs typeface="+mn-lt"/>
              </a:rPr>
              <a:t> is implemented using a </a:t>
            </a:r>
            <a:r>
              <a:rPr lang="en-US" sz="2400" b="1">
                <a:ea typeface="+mn-lt"/>
                <a:cs typeface="+mn-lt"/>
              </a:rPr>
              <a:t>2:1 Multiplexer</a:t>
            </a:r>
            <a:endParaRPr lang="en-US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61214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E26ED-89C9-166C-A94F-4658F02F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833C5F-041F-158B-1EE5-6503A4546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EC48385-96F0-8A6D-3487-A1E989B0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6E02F-91DB-61E1-3B25-A0C51CCFB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B45A9-2F8F-DE32-7AFB-A0ABA69F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728449"/>
            <a:ext cx="8074815" cy="194063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28600" indent="-228600">
              <a:spcBef>
                <a:spcPts val="1000"/>
              </a:spcBef>
            </a:pPr>
            <a:br>
              <a:rPr lang="en-US" sz="7200" dirty="0">
                <a:latin typeface="Aptos"/>
              </a:rPr>
            </a:br>
            <a:r>
              <a:rPr lang="en-US" sz="7200">
                <a:latin typeface="Aptos"/>
              </a:rPr>
              <a:t>2:1 Multiplexer </a:t>
            </a:r>
            <a:r>
              <a:rPr lang="en-US" sz="7200" dirty="0">
                <a:latin typeface="Aptos"/>
              </a:rPr>
              <a:t>Logic</a:t>
            </a:r>
          </a:p>
          <a:p>
            <a:endParaRPr lang="en-US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30603-C8B1-5C66-232D-E77855FD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400">
                <a:ea typeface="+mn-lt"/>
                <a:cs typeface="+mn-lt"/>
              </a:rPr>
              <a:t>A </a:t>
            </a:r>
            <a:r>
              <a:rPr lang="en-US" sz="2400" b="1">
                <a:ea typeface="+mn-lt"/>
                <a:cs typeface="+mn-lt"/>
              </a:rPr>
              <a:t>2:1 Multiplexer</a:t>
            </a:r>
            <a:r>
              <a:rPr lang="en-US" sz="2400">
                <a:ea typeface="+mn-lt"/>
                <a:cs typeface="+mn-lt"/>
              </a:rPr>
              <a:t> is used to implement the access-control logic.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The MUX connections are: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I₀ = 0</a:t>
            </a:r>
            <a:r>
              <a:rPr lang="en-US" sz="2400">
                <a:ea typeface="+mn-lt"/>
                <a:cs typeface="+mn-lt"/>
              </a:rPr>
              <a:t> — Constant Logic 0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I₁ = B</a:t>
            </a:r>
            <a:r>
              <a:rPr lang="en-US" sz="2400">
                <a:ea typeface="+mn-lt"/>
                <a:cs typeface="+mn-lt"/>
              </a:rPr>
              <a:t> — PIN Verification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S = A</a:t>
            </a:r>
            <a:r>
              <a:rPr lang="en-US" sz="2400">
                <a:ea typeface="+mn-lt"/>
                <a:cs typeface="+mn-lt"/>
              </a:rPr>
              <a:t> — Card Status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Y = Access Output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When </a:t>
            </a:r>
            <a:r>
              <a:rPr lang="en-US" sz="2400" b="1">
                <a:ea typeface="+mn-lt"/>
                <a:cs typeface="+mn-lt"/>
              </a:rPr>
              <a:t>A = 0</a:t>
            </a:r>
            <a:r>
              <a:rPr lang="en-US" sz="2400">
                <a:ea typeface="+mn-lt"/>
                <a:cs typeface="+mn-lt"/>
              </a:rPr>
              <a:t>, the MUX selects </a:t>
            </a:r>
            <a:r>
              <a:rPr lang="en-US" sz="2400" b="1">
                <a:ea typeface="+mn-lt"/>
                <a:cs typeface="+mn-lt"/>
              </a:rPr>
              <a:t>I₀</a:t>
            </a:r>
            <a:r>
              <a:rPr lang="en-US" sz="2400">
                <a:ea typeface="+mn-lt"/>
                <a:cs typeface="+mn-lt"/>
              </a:rPr>
              <a:t>, which is 0. Therefore, access is denied.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When </a:t>
            </a:r>
            <a:r>
              <a:rPr lang="en-US" sz="2400" b="1">
                <a:ea typeface="+mn-lt"/>
                <a:cs typeface="+mn-lt"/>
              </a:rPr>
              <a:t>A = 1</a:t>
            </a:r>
            <a:r>
              <a:rPr lang="en-US" sz="2400">
                <a:ea typeface="+mn-lt"/>
                <a:cs typeface="+mn-lt"/>
              </a:rPr>
              <a:t>, the MUX selects </a:t>
            </a:r>
            <a:r>
              <a:rPr lang="en-US" sz="2400" b="1">
                <a:ea typeface="+mn-lt"/>
                <a:cs typeface="+mn-lt"/>
              </a:rPr>
              <a:t>I₁</a:t>
            </a:r>
            <a:r>
              <a:rPr lang="en-US" sz="2400">
                <a:ea typeface="+mn-lt"/>
                <a:cs typeface="+mn-lt"/>
              </a:rPr>
              <a:t>, which is B. Therefore, access depends on whether the PIN is correct.</a:t>
            </a:r>
            <a:endParaRPr lang="en-US">
              <a:ea typeface="+mn-lt"/>
              <a:cs typeface="+mn-lt"/>
            </a:endParaRP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42953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6EB76-0561-782C-F99B-209C82B6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4878EC-46FB-F913-A04F-04DDDDB90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74DE623F-6E6C-7B21-153C-61C63AA91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26E407-A1B9-2978-0BD4-44E07E85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74E30-D2F6-130D-459D-B86E049D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/>
              <a:t>Worki</a:t>
            </a:r>
            <a:r>
              <a:rPr lang="en-US" sz="7200"/>
              <a:t>ng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29219-4709-51AB-7AB4-76C9A0778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The card reader first provides the </a:t>
            </a:r>
            <a:r>
              <a:rPr lang="en-US" sz="2400" b="1">
                <a:ea typeface="+mn-lt"/>
                <a:cs typeface="+mn-lt"/>
              </a:rPr>
              <a:t>Card Status (A)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If the card is invalid, </a:t>
            </a:r>
            <a:r>
              <a:rPr lang="en-US" sz="2400" b="1">
                <a:ea typeface="+mn-lt"/>
                <a:cs typeface="+mn-lt"/>
              </a:rPr>
              <a:t>A = 0</a:t>
            </a:r>
            <a:r>
              <a:rPr lang="en-US" sz="2400">
                <a:ea typeface="+mn-lt"/>
                <a:cs typeface="+mn-lt"/>
              </a:rPr>
              <a:t>. The MUX selects I₀ = 0, so access is denied.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If the card is valid, </a:t>
            </a:r>
            <a:r>
              <a:rPr lang="en-US" sz="2400" b="1">
                <a:ea typeface="+mn-lt"/>
                <a:cs typeface="+mn-lt"/>
              </a:rPr>
              <a:t>A = 1</a:t>
            </a:r>
            <a:r>
              <a:rPr lang="en-US" sz="2400">
                <a:ea typeface="+mn-lt"/>
                <a:cs typeface="+mn-lt"/>
              </a:rPr>
              <a:t>. The MUX selects I₁ = B.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If the PIN is incorrect, </a:t>
            </a:r>
            <a:r>
              <a:rPr lang="en-US" sz="2400" b="1">
                <a:ea typeface="+mn-lt"/>
                <a:cs typeface="+mn-lt"/>
              </a:rPr>
              <a:t>B = 0</a:t>
            </a:r>
            <a:r>
              <a:rPr lang="en-US" sz="2400">
                <a:ea typeface="+mn-lt"/>
                <a:cs typeface="+mn-lt"/>
              </a:rPr>
              <a:t>, so access remains denied.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If the PIN is correct, </a:t>
            </a:r>
            <a:r>
              <a:rPr lang="en-US" sz="2400" b="1">
                <a:ea typeface="+mn-lt"/>
                <a:cs typeface="+mn-lt"/>
              </a:rPr>
              <a:t>B = 1</a:t>
            </a:r>
            <a:r>
              <a:rPr lang="en-US" sz="2400">
                <a:ea typeface="+mn-lt"/>
                <a:cs typeface="+mn-lt"/>
              </a:rPr>
              <a:t>, so access is granted.</a:t>
            </a:r>
            <a:endParaRPr lang="en-US">
              <a:ea typeface="+mn-lt"/>
              <a:cs typeface="+mn-lt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0850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A5D8D-823B-EB15-FFBB-1D0363D0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AF4D82-D384-440E-2770-5F873F7AC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9DD53D9-0EFD-D105-7A48-41D18936A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955C8-A6C4-7BAE-42A8-C9092B595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01EAD-3B7F-D14A-2E11-D7620F1B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Logisim Simulation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0987-8222-D866-01D2-5DE2DC04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48201"/>
            <a:ext cx="8074815" cy="322166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Place two input pins for </a:t>
            </a:r>
            <a:r>
              <a:rPr lang="en-US" b="1">
                <a:ea typeface="+mn-lt"/>
                <a:cs typeface="+mn-lt"/>
              </a:rPr>
              <a:t>Card Status (A)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PIN Verification (B)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Place a </a:t>
            </a:r>
            <a:r>
              <a:rPr lang="en-US" b="1">
                <a:ea typeface="+mn-lt"/>
                <a:cs typeface="+mn-lt"/>
              </a:rPr>
              <a:t>2:1 Multiplexer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Set </a:t>
            </a:r>
            <a:r>
              <a:rPr lang="en-US" b="1">
                <a:ea typeface="+mn-lt"/>
                <a:cs typeface="+mn-lt"/>
              </a:rPr>
              <a:t>Select Bits = 1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Data Bits = 1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Connect </a:t>
            </a:r>
            <a:r>
              <a:rPr lang="en-US" b="1">
                <a:ea typeface="+mn-lt"/>
                <a:cs typeface="+mn-lt"/>
              </a:rPr>
              <a:t>Constant 0</a:t>
            </a:r>
            <a:r>
              <a:rPr lang="en-US">
                <a:ea typeface="+mn-lt"/>
                <a:cs typeface="+mn-lt"/>
              </a:rPr>
              <a:t> to </a:t>
            </a:r>
            <a:r>
              <a:rPr lang="en-US" b="1">
                <a:ea typeface="+mn-lt"/>
                <a:cs typeface="+mn-lt"/>
              </a:rPr>
              <a:t>I0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Connect </a:t>
            </a:r>
            <a:r>
              <a:rPr lang="en-US" b="1">
                <a:ea typeface="+mn-lt"/>
                <a:cs typeface="+mn-lt"/>
              </a:rPr>
              <a:t>B (PIN Verification)</a:t>
            </a:r>
            <a:r>
              <a:rPr lang="en-US">
                <a:ea typeface="+mn-lt"/>
                <a:cs typeface="+mn-lt"/>
              </a:rPr>
              <a:t> to </a:t>
            </a:r>
            <a:r>
              <a:rPr lang="en-US" b="1">
                <a:ea typeface="+mn-lt"/>
                <a:cs typeface="+mn-lt"/>
              </a:rPr>
              <a:t>I1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Connect </a:t>
            </a:r>
            <a:r>
              <a:rPr lang="en-US" b="1">
                <a:ea typeface="+mn-lt"/>
                <a:cs typeface="+mn-lt"/>
              </a:rPr>
              <a:t>A (Card Status)</a:t>
            </a:r>
            <a:r>
              <a:rPr lang="en-US">
                <a:ea typeface="+mn-lt"/>
                <a:cs typeface="+mn-lt"/>
              </a:rPr>
              <a:t> to the </a:t>
            </a:r>
            <a:r>
              <a:rPr lang="en-US" b="1">
                <a:ea typeface="+mn-lt"/>
                <a:cs typeface="+mn-lt"/>
              </a:rPr>
              <a:t>Select input (S)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Connect the MUX output to an </a:t>
            </a:r>
            <a:r>
              <a:rPr lang="en-US" b="1">
                <a:ea typeface="+mn-lt"/>
                <a:cs typeface="+mn-lt"/>
              </a:rPr>
              <a:t>output pin or LED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Change the values of </a:t>
            </a:r>
            <a:r>
              <a:rPr lang="en-US" b="1" dirty="0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B</a:t>
            </a:r>
            <a:r>
              <a:rPr lang="en-US">
                <a:ea typeface="+mn-lt"/>
                <a:cs typeface="+mn-lt"/>
              </a:rPr>
              <a:t> and verify the truth table. 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2470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C48F7-8FA9-6855-36C5-CEAF9D46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931CE5-4A37-5660-FA3A-ADB17B3C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B294331-0C9E-9F22-AAD5-37B329494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DC2A33-269F-0EE2-B017-1FFCB7357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991F0-87F4-CD54-0322-34DC99696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Logisim Diagram</a:t>
            </a:r>
            <a:endParaRPr lang="en-US" sz="72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9FEF2E5-FCDE-9A0F-7050-3F4E9D2C1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92253"/>
            <a:ext cx="10515600" cy="393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7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E095B-378E-873E-7DA9-7A7BCF1CF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F9814F-BF59-4B10-07E3-42D287867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02CBE96-40EC-7B33-5AFA-88D4553F5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B0043-2C7A-E909-8A26-99E46653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D810F-BD33-6BF3-B2DD-2F3C07E0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/>
              <a:t>Truth </a:t>
            </a:r>
            <a:r>
              <a:rPr lang="en-US" sz="7200"/>
              <a:t>Table</a:t>
            </a:r>
            <a:endParaRPr lang="en-US" sz="7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C00A97-0FCC-14DA-15A5-4D3606983B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165775"/>
              </p:ext>
            </p:extLst>
          </p:nvPr>
        </p:nvGraphicFramePr>
        <p:xfrm>
          <a:off x="838200" y="2767284"/>
          <a:ext cx="9301347" cy="190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449">
                  <a:extLst>
                    <a:ext uri="{9D8B030D-6E8A-4147-A177-3AD203B41FA5}">
                      <a16:colId xmlns:a16="http://schemas.microsoft.com/office/drawing/2014/main" val="1152346102"/>
                    </a:ext>
                  </a:extLst>
                </a:gridCol>
                <a:gridCol w="3100449">
                  <a:extLst>
                    <a:ext uri="{9D8B030D-6E8A-4147-A177-3AD203B41FA5}">
                      <a16:colId xmlns:a16="http://schemas.microsoft.com/office/drawing/2014/main" val="2905042332"/>
                    </a:ext>
                  </a:extLst>
                </a:gridCol>
                <a:gridCol w="3100449">
                  <a:extLst>
                    <a:ext uri="{9D8B030D-6E8A-4147-A177-3AD203B41FA5}">
                      <a16:colId xmlns:a16="http://schemas.microsoft.com/office/drawing/2014/main" val="1214111583"/>
                    </a:ext>
                  </a:extLst>
                </a:gridCol>
              </a:tblGrid>
              <a:tr h="380570">
                <a:tc>
                  <a:txBody>
                    <a:bodyPr/>
                    <a:lstStyle/>
                    <a:p>
                      <a:r>
                        <a:rPr lang="en-US"/>
                        <a:t>A(Card Status)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B(Pin </a:t>
                      </a:r>
                      <a:r>
                        <a:rPr lang="en-US" dirty="0" err="1"/>
                        <a:t>Verificat</a:t>
                      </a:r>
                      <a:r>
                        <a:rPr lang="en-US" dirty="0"/>
                        <a:t>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Y(Access)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231570"/>
                  </a:ext>
                </a:extLst>
              </a:tr>
              <a:tr h="38057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51894"/>
                  </a:ext>
                </a:extLst>
              </a:tr>
              <a:tr h="38057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421214"/>
                  </a:ext>
                </a:extLst>
              </a:tr>
              <a:tr h="38057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797702"/>
                  </a:ext>
                </a:extLst>
              </a:tr>
              <a:tr h="38057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7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8B6BC-9858-2C2E-40A7-6785F222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C890FD-019D-1F63-25A0-1E34864FA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9066A47-3A00-255B-CCE2-D94DCED64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D02EA8-3C5B-E53F-7C6E-AC873E8BD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8DA5F-279B-325A-9D96-F72CA79D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/>
              <a:t> Boolean </a:t>
            </a:r>
            <a:r>
              <a:rPr lang="en-US" sz="7200" dirty="0" err="1"/>
              <a:t>Expressi</a:t>
            </a:r>
            <a:r>
              <a:rPr lang="en-US" sz="7200" dirty="0"/>
              <a:t>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7B69-E8F0-C0DB-50B7-00DF8CD3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The required logic is: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Y = A · B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Where: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</a:t>
            </a:r>
            <a:r>
              <a:rPr lang="en-US">
                <a:ea typeface="+mn-lt"/>
                <a:cs typeface="+mn-lt"/>
              </a:rPr>
              <a:t> = Card Status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B</a:t>
            </a:r>
            <a:r>
              <a:rPr lang="en-US">
                <a:ea typeface="+mn-lt"/>
                <a:cs typeface="+mn-lt"/>
              </a:rPr>
              <a:t> = PIN Verification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Y</a:t>
            </a:r>
            <a:r>
              <a:rPr lang="en-US">
                <a:ea typeface="+mn-lt"/>
                <a:cs typeface="+mn-lt"/>
              </a:rPr>
              <a:t> = Access</a:t>
            </a:r>
            <a:endParaRPr lang="en-US"/>
          </a:p>
          <a:p>
            <a:pPr indent="0">
              <a:buNone/>
            </a:pPr>
            <a:r>
              <a:rPr lang="en-US">
                <a:ea typeface="+mn-lt"/>
                <a:cs typeface="+mn-lt"/>
              </a:rPr>
              <a:t>This represents </a:t>
            </a:r>
            <a:r>
              <a:rPr lang="en-US" b="1">
                <a:ea typeface="+mn-lt"/>
                <a:cs typeface="+mn-lt"/>
              </a:rPr>
              <a:t>AND logic</a:t>
            </a:r>
            <a:r>
              <a:rPr lang="en-US">
                <a:ea typeface="+mn-lt"/>
                <a:cs typeface="+mn-lt"/>
              </a:rPr>
              <a:t> because access is granted only when both conditions are true.</a:t>
            </a:r>
            <a:endParaRPr lang="en-US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70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8A9E9-A0F1-1818-6618-706C0C74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B9A750-775A-7656-DCCD-185210CE4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260D1AE-7773-593C-F4A1-C9181CC2E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3E490-26D7-145C-09DA-8E9A6EA92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5C784-87A6-57C1-5961-D887E713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/>
              <a:t>Expected Result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601A-0E5F-B1EA-9820-F17FE1F17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421741" cy="280039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turns </a:t>
            </a:r>
            <a:r>
              <a:rPr lang="en-US" sz="2400" b="1" dirty="0">
                <a:ea typeface="+mn-lt"/>
                <a:cs typeface="+mn-lt"/>
              </a:rPr>
              <a:t>ON when it is dark and motion is detected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remains </a:t>
            </a:r>
            <a:r>
              <a:rPr lang="en-US" sz="2400" b="1" dirty="0">
                <a:ea typeface="+mn-lt"/>
                <a:cs typeface="+mn-lt"/>
              </a:rPr>
              <a:t>OFF during daylight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remains </a:t>
            </a:r>
            <a:r>
              <a:rPr lang="en-US" sz="2400" b="1" dirty="0">
                <a:ea typeface="+mn-lt"/>
                <a:cs typeface="+mn-lt"/>
              </a:rPr>
              <a:t>OFF when there is no motion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sz="2400" b="1" dirty="0">
                <a:ea typeface="+mn-lt"/>
                <a:cs typeface="+mn-lt"/>
              </a:rPr>
              <a:t>2:1 MUX successfully controls the </a:t>
            </a:r>
            <a:r>
              <a:rPr lang="en-US" sz="2400" b="1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based on the sensor inputs.</a:t>
            </a:r>
            <a:endParaRPr lang="en-US" dirty="0"/>
          </a:p>
          <a:p>
            <a:r>
              <a:rPr lang="en-US" sz="2400">
                <a:ea typeface="+mn-lt"/>
                <a:cs typeface="+mn-lt"/>
              </a:rPr>
              <a:t>The circuit is successfully </a:t>
            </a:r>
            <a:r>
              <a:rPr lang="en-US" sz="2400" b="1">
                <a:ea typeface="+mn-lt"/>
                <a:cs typeface="+mn-lt"/>
              </a:rPr>
              <a:t>simulated and verified in Logisim Evolution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The system helps </a:t>
            </a:r>
            <a:r>
              <a:rPr lang="en-US" sz="2400" b="1">
                <a:ea typeface="+mn-lt"/>
                <a:cs typeface="+mn-lt"/>
              </a:rPr>
              <a:t>reduce unnecessary power consumption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2303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A5978-551C-6F43-1948-D3F8BA39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07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665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Office Theme</vt:lpstr>
      <vt:lpstr>Digital Design and Computer Architecture</vt:lpstr>
      <vt:lpstr>PROJECT TITLE   Design and Simulation of a Digital Access Card Verification System Using (2*1)Multiplexer</vt:lpstr>
      <vt:lpstr>PowerPoint Presentation</vt:lpstr>
      <vt:lpstr>Introduction</vt:lpstr>
      <vt:lpstr>Objectives</vt:lpstr>
      <vt:lpstr>Logic Design</vt:lpstr>
      <vt:lpstr> 2:1 Multiplexer Logic </vt:lpstr>
      <vt:lpstr>Working</vt:lpstr>
      <vt:lpstr>Logisim Simulation</vt:lpstr>
      <vt:lpstr>Logisim Diagram</vt:lpstr>
      <vt:lpstr>Truth Table</vt:lpstr>
      <vt:lpstr> Boolean Expression</vt:lpstr>
      <vt:lpstr>Expected Result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Design and Computer Architecture</dc:title>
  <dc:creator>M.RADHIKA</dc:creator>
  <cp:lastModifiedBy>manneradhika@outlook.com</cp:lastModifiedBy>
  <cp:revision>166</cp:revision>
  <dcterms:created xsi:type="dcterms:W3CDTF">2026-08-27T07:04:06Z</dcterms:created>
  <dcterms:modified xsi:type="dcterms:W3CDTF">2026-10-15T02:52:58Z</dcterms:modified>
</cp:coreProperties>
</file>